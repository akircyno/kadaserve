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2000" cy="6858000" type="wide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theme" Target="theme/them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eft soft field"/>
          <p:cNvSpPr/>
          <p:nvPr/>
        </p:nvSpPr>
        <p:spPr>
          <a:xfrm>
            <a:off x="0" y="1143000"/>
            <a:ext cx="4023360" cy="1828800"/>
          </a:xfrm>
          <a:prstGeom prst="rect">
            <a:avLst/>
          </a:prstGeom>
          <a:solidFill>
            <a:srgbClr val="CAD4BD">
              <a:alpha val="65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Right soft field"/>
          <p:cNvSpPr/>
          <p:nvPr/>
        </p:nvSpPr>
        <p:spPr>
          <a:xfrm>
            <a:off x="8046720" y="1554480"/>
            <a:ext cx="4206240" cy="1645920"/>
          </a:xfrm>
          <a:prstGeom prst="rect">
            <a:avLst/>
          </a:prstGeom>
          <a:solidFill>
            <a:srgbClr val="B9C7AE">
              <a:alpha val="55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op rule"/>
          <p:cNvSpPr/>
          <p:nvPr/>
        </p:nvSpPr>
        <p:spPr>
          <a:xfrm>
            <a:off x="0" y="173736"/>
            <a:ext cx="12191695" cy="18288"/>
          </a:xfrm>
          <a:prstGeom prst="rect">
            <a:avLst/>
          </a:prstGeom>
          <a:solidFill>
            <a:srgbClr val="7B3FF2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Bottom title rule"/>
          <p:cNvSpPr/>
          <p:nvPr/>
        </p:nvSpPr>
        <p:spPr>
          <a:xfrm>
            <a:off x="0" y="1097280"/>
            <a:ext cx="12191695" cy="18288"/>
          </a:xfrm>
          <a:prstGeom prst="rect">
            <a:avLst/>
          </a:prstGeom>
          <a:solidFill>
            <a:srgbClr val="7B3FF2"/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Title"/>
          <p:cNvSpPr txBox="1"/>
          <p:nvPr/>
        </p:nvSpPr>
        <p:spPr>
          <a:xfrm>
            <a:off x="502920" y="201168"/>
            <a:ext cx="11201400" cy="749808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pPr algn="ctr"/>
            <a:r>
              <a:rPr lang="en-US" sz="4400" b="1">
                <a:solidFill>
                  <a:srgbClr val="315C38"/>
                </a:solidFill>
                <a:latin typeface="Aptos Display"/>
              </a:rPr>
              <a:t>SECURITY ROADMAP</a:t>
            </a:r>
          </a:p>
        </p:txBody>
      </p:sp>
      <p:sp>
        <p:nvSpPr>
          <p:cNvPr id="7" name="Subtitle"/>
          <p:cNvSpPr txBox="1"/>
          <p:nvPr/>
        </p:nvSpPr>
        <p:spPr>
          <a:xfrm>
            <a:off x="640080" y="1435608"/>
            <a:ext cx="10927080" cy="384048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pPr algn="ctr"/>
            <a:r>
              <a:rPr lang="en-US" sz="1900" b="1">
                <a:solidFill>
                  <a:srgbClr val="145C2A"/>
                </a:solidFill>
                <a:latin typeface="Aptos"/>
              </a:rPr>
              <a:t>Data Privacy Act of 2012 (RA 10173)</a:t>
            </a:r>
          </a:p>
        </p:txBody>
      </p:sp>
      <p:sp>
        <p:nvSpPr>
          <p:cNvPr id="8" name="Security heading"/>
          <p:cNvSpPr txBox="1"/>
          <p:nvPr/>
        </p:nvSpPr>
        <p:spPr>
          <a:xfrm>
            <a:off x="384048" y="1975104"/>
            <a:ext cx="5120640" cy="329184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pPr algn="l"/>
            <a:r>
              <a:rPr lang="en-US" sz="2000" b="1">
                <a:solidFill>
                  <a:srgbClr val="15642D"/>
                </a:solidFill>
                <a:latin typeface="Aptos"/>
              </a:rPr>
              <a:t>Security Controls</a:t>
            </a:r>
          </a:p>
        </p:txBody>
      </p:sp>
      <p:sp>
        <p:nvSpPr>
          <p:cNvPr id="9" name="Security bullets"/>
          <p:cNvSpPr txBox="1"/>
          <p:nvPr/>
        </p:nvSpPr>
        <p:spPr>
          <a:xfrm>
            <a:off x="658368" y="2450592"/>
            <a:ext cx="5303520" cy="29260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sz="1900" b="1">
                <a:solidFill>
                  <a:srgbClr val="145C2A"/>
                </a:solidFill>
                <a:latin typeface="Aptos"/>
              </a:rPr>
              <a:t>- Secure authentication</a:t>
            </a:r>
          </a:p>
          <a:p>
            <a:r>
              <a:rPr lang="en-US" sz="1900" b="1">
                <a:solidFill>
                  <a:srgbClr val="145C2A"/>
                </a:solidFill>
                <a:latin typeface="Aptos"/>
              </a:rPr>
              <a:t>- Role-based access controls</a:t>
            </a:r>
          </a:p>
          <a:p>
            <a:r>
              <a:rPr lang="en-US" sz="1900" b="1">
                <a:solidFill>
                  <a:srgbClr val="145C2A"/>
                </a:solidFill>
                <a:latin typeface="Aptos"/>
              </a:rPr>
              <a:t>- Protected database access</a:t>
            </a:r>
          </a:p>
          <a:p>
            <a:r>
              <a:rPr lang="en-US" sz="1900" b="1">
                <a:solidFill>
                  <a:srgbClr val="145C2A"/>
                </a:solidFill>
                <a:latin typeface="Aptos"/>
              </a:rPr>
              <a:t>- Password hashing</a:t>
            </a:r>
          </a:p>
          <a:p>
            <a:r>
              <a:rPr lang="en-US" sz="1900" b="1">
                <a:solidFill>
                  <a:srgbClr val="145C2A"/>
                </a:solidFill>
                <a:latin typeface="Aptos"/>
              </a:rPr>
              <a:t>- Secure cloud infrastructure</a:t>
            </a:r>
          </a:p>
        </p:txBody>
      </p:sp>
      <p:sp>
        <p:nvSpPr>
          <p:cNvPr id="10" name="Privacy heading"/>
          <p:cNvSpPr txBox="1"/>
          <p:nvPr/>
        </p:nvSpPr>
        <p:spPr>
          <a:xfrm>
            <a:off x="6995160" y="1975104"/>
            <a:ext cx="4663440" cy="329184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pPr algn="l"/>
            <a:r>
              <a:rPr lang="en-US" sz="2000" b="1">
                <a:solidFill>
                  <a:srgbClr val="15642D"/>
                </a:solidFill>
                <a:latin typeface="Aptos"/>
              </a:rPr>
              <a:t>Privacy &amp; Compliance</a:t>
            </a:r>
          </a:p>
        </p:txBody>
      </p:sp>
      <p:sp>
        <p:nvSpPr>
          <p:cNvPr id="11" name="Privacy bullets"/>
          <p:cNvSpPr txBox="1"/>
          <p:nvPr/>
        </p:nvSpPr>
        <p:spPr>
          <a:xfrm>
            <a:off x="6967728" y="2450592"/>
            <a:ext cx="4754880" cy="27432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sz="1900" b="1">
                <a:solidFill>
                  <a:srgbClr val="145C2A"/>
                </a:solidFill>
                <a:latin typeface="Aptos"/>
              </a:rPr>
              <a:t>- Separate Privacy Policy</a:t>
            </a:r>
          </a:p>
          <a:p>
            <a:r>
              <a:rPr lang="en-US" sz="1900" b="1">
                <a:solidFill>
                  <a:srgbClr val="145C2A"/>
                </a:solidFill>
                <a:latin typeface="Aptos"/>
              </a:rPr>
              <a:t>- Separate Terms &amp; Conditions</a:t>
            </a:r>
          </a:p>
          <a:p>
            <a:r>
              <a:rPr lang="en-US" sz="1900" b="1">
                <a:solidFill>
                  <a:srgbClr val="145C2A"/>
                </a:solidFill>
                <a:latin typeface="Aptos"/>
              </a:rPr>
              <a:t>- Consent during registration</a:t>
            </a:r>
          </a:p>
          <a:p>
            <a:r>
              <a:rPr lang="en-US" sz="1900" b="1">
                <a:solidFill>
                  <a:srgbClr val="145C2A"/>
                </a:solidFill>
                <a:latin typeface="Aptos"/>
              </a:rPr>
              <a:t>- Limited personal-data access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KadaServe">
  <a:themeElements>
    <a:clrScheme name="KadaServe">
      <a:dk1>
        <a:srgbClr val="0D2E18"/>
      </a:dk1>
      <a:lt1>
        <a:srgbClr val="F8F3EA"/>
      </a:lt1>
      <a:dk2>
        <a:srgbClr val="315C38"/>
      </a:dk2>
      <a:lt2>
        <a:srgbClr val="FFF8EF"/>
      </a:lt2>
      <a:accent1>
        <a:srgbClr val="145C2A"/>
      </a:accent1>
      <a:accent2>
        <a:srgbClr val="684B35"/>
      </a:accent2>
      <a:accent3>
        <a:srgbClr val="7B3FF2"/>
      </a:accent3>
      <a:accent4>
        <a:srgbClr val="D8C8AA"/>
      </a:accent4>
      <a:accent5>
        <a:srgbClr val="CAD4BD"/>
      </a:accent5>
      <a:accent6>
        <a:srgbClr val="B9C7AE"/>
      </a:accent6>
      <a:hlink>
        <a:srgbClr val="145C2A"/>
      </a:hlink>
      <a:folHlink>
        <a:srgbClr val="684B35"/>
      </a:folHlink>
    </a:clrScheme>
    <a:fontScheme name="KadaServe">
      <a:majorFont>
        <a:latin typeface="Aptos Display"/>
      </a:majorFont>
      <a:minorFont>
        <a:latin typeface="Aptos"/>
      </a:minorFont>
    </a:fontScheme>
    <a:fmtScheme name="KadaServe">
      <a:fillStyleLst/>
      <a:lnStyleLst/>
      <a:effectStyleLst/>
      <a:bgFillStyleLst/>
    </a:fmtScheme>
  </a:themeElements>
</a:theme>
</file>

<file path=docProps/app.xml><?xml version="1.0" encoding="utf-8"?>
<Properties xmlns="http://schemas.openxmlformats.org/officeDocument/2006/extended-properties">
  <Application>Microsoft PowerPoint</Application>
  <PresentationFormat>On-screen Show (16:9)</PresentationFormat>
  <Slides>1</Slides>
</Properties>
</file>

<file path=docProps/core.xml><?xml version="1.0" encoding="utf-8"?>
<cp:coreProperties xmlns:cp="http://schemas.openxmlformats.org/package/2006/metadata/core-properties" xmlns:dc="http://purl.org/dc/elements/1.1/">
  <dc:title>Security Roadmap</dc:title>
  <dc:creator>KadaServe</dc:creator>
  <cp:lastModifiedBy>Codex</cp:lastModifiedBy>
</cp:coreProperties>
</file>